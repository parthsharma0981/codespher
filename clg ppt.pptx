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8"/>
  </p:notesMasterIdLst>
  <p:sldIdLst>
    <p:sldId id="281" r:id="rId2"/>
    <p:sldId id="313" r:id="rId3"/>
    <p:sldId id="315" r:id="rId4"/>
    <p:sldId id="316" r:id="rId5"/>
    <p:sldId id="317" r:id="rId6"/>
    <p:sldId id="329" r:id="rId7"/>
    <p:sldId id="319" r:id="rId8"/>
    <p:sldId id="320" r:id="rId9"/>
    <p:sldId id="321" r:id="rId10"/>
    <p:sldId id="322" r:id="rId11"/>
    <p:sldId id="323" r:id="rId12"/>
    <p:sldId id="324" r:id="rId13"/>
    <p:sldId id="326" r:id="rId14"/>
    <p:sldId id="327" r:id="rId15"/>
    <p:sldId id="328" r:id="rId16"/>
    <p:sldId id="314" r:id="rId17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BC1FE-0D27-420D-ACF3-3E7C33926969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922932-FB73-4B31-94D5-4A7F88516C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744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96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6507541" cy="838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784"/>
            <a:ext cx="8229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9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6596227-011B-00F5-F390-BFE1CBC5D68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475" y="220084"/>
            <a:ext cx="1974850" cy="84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69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372E63F-589D-8B42-99FD-D388EA2B82A4}"/>
              </a:ext>
            </a:extLst>
          </p:cNvPr>
          <p:cNvSpPr txBox="1"/>
          <p:nvPr/>
        </p:nvSpPr>
        <p:spPr>
          <a:xfrm>
            <a:off x="381000" y="925110"/>
            <a:ext cx="8229600" cy="5654111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r>
              <a:rPr lang="en-IN" sz="3200" dirty="0" err="1">
                <a:solidFill>
                  <a:srgbClr val="FF0000"/>
                </a:solidFill>
              </a:rPr>
              <a:t>CodeSphere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r>
              <a:rPr lang="en-IN" sz="4400" dirty="0"/>
              <a:t>A Real-Time Developer Collaboration Platform</a:t>
            </a: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(Course Code: 25CS022)</a:t>
            </a:r>
          </a:p>
          <a:p>
            <a:pPr marR="8255" algn="ctr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8255">
              <a:lnSpc>
                <a:spcPct val="100000"/>
              </a:lnSpc>
              <a:spcBef>
                <a:spcPts val="330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514350" marR="8255" indent="-514350">
              <a:lnSpc>
                <a:spcPct val="100000"/>
              </a:lnSpc>
              <a:spcBef>
                <a:spcPts val="330"/>
              </a:spcBef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Parth Sharma (2411981406)</a:t>
            </a:r>
          </a:p>
          <a:p>
            <a:pPr marL="514350" marR="8255" indent="-514350">
              <a:lnSpc>
                <a:spcPct val="100000"/>
              </a:lnSpc>
              <a:spcBef>
                <a:spcPts val="330"/>
              </a:spcBef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Raghav sharma(2411981446)</a:t>
            </a:r>
          </a:p>
          <a:p>
            <a:pPr marL="514350" marR="8255" indent="-514350">
              <a:lnSpc>
                <a:spcPct val="100000"/>
              </a:lnSpc>
              <a:spcBef>
                <a:spcPts val="330"/>
              </a:spcBef>
              <a:buAutoNum type="arabicPeriod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Parshiv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Guleria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(2411981403)</a:t>
            </a:r>
          </a:p>
          <a:p>
            <a:pPr marL="514350" marR="8255" indent="-514350">
              <a:lnSpc>
                <a:spcPct val="100000"/>
              </a:lnSpc>
              <a:spcBef>
                <a:spcPts val="330"/>
              </a:spcBef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Nimish Tayal(2411981382)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E4690CBE-8CEE-F5EE-CA89-DCBB31B742DE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610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E5E98-559D-0B30-1BB5-3C3416B3C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00A92-C317-8104-6A6E-8031D6C90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8610600" cy="5562600"/>
          </a:xfrm>
        </p:spPr>
        <p:txBody>
          <a:bodyPr/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Design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Diagrams (DFD)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Implemented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Tasks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13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0AA6-0F7A-B012-0F6E-D5D0F5F3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04800" y="814147"/>
            <a:ext cx="8534400" cy="5250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Agile Collaboration: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software development requires seamless communication, efficient task management, and real-time collaboration among distributed development teams.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Purpose: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enterprise-grade developer collaboration platform that integrates project management, task tracking, team communication, and file sharing within a unified workspace.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Security Standard: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JWT-based authentication, encrypted password storage using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Role-Based Access Control (RBAC) to ensure secure access management.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State Sync: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Socket.IO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instant updates for messages, task modifications, notifications, and project activities without requiring manual page refreshes.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215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/>
          <a:lstStyle/>
          <a:p>
            <a:pPr marL="0" lvl="0" indent="0" eaLnBrk="0" hangingPunct="0">
              <a:spcBef>
                <a:spcPct val="0"/>
              </a:spcBef>
              <a:buNone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</a:p>
          <a:p>
            <a:pPr marL="0" lvl="0" indent="0" eaLnBrk="0" hangingPunct="0">
              <a:spcBef>
                <a:spcPct val="0"/>
              </a:spcBef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collaboration platforms often require multiple tools for communication, task management, document sharing, and project tracking, increasing complexity and reducing team productivity.</a:t>
            </a:r>
          </a:p>
          <a:p>
            <a:pPr marL="0" lvl="0" indent="0" eaLnBrk="0" hangingPunct="0">
              <a:spcBef>
                <a:spcPct val="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Extremely complex interface with a steep learning curve for lightweight development teams.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Trello: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task management but lacks integrated real-time communication and advanced collaboration features.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Discord: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communication but does not support structured project and task management.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Excellent version control platform but lacks comprehensive team collaboration and workspace management.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: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CodeSphere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Workspace Management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Team Communication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File Sharing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&amp; Project Management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012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Design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Tier: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React.js, Tailwind CSS, React Router, Axios, and React Beautiful DnD for responsive user interface and task management.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Tier: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runtime with Express.js REST API controllers and Socket.IO server for real-time communication.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Persistence Layer: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MongoDB cluster managed through Mongoose ODM schemas.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Cloudinary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for storing project documents, images, and attachments.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075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Design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0558" y="1219200"/>
            <a:ext cx="6446684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87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948648"/>
              </p:ext>
            </p:extLst>
          </p:nvPr>
        </p:nvGraphicFramePr>
        <p:xfrm>
          <a:off x="304800" y="1295400"/>
          <a:ext cx="8458200" cy="4755209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128340365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34787246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241868597"/>
                    </a:ext>
                  </a:extLst>
                </a:gridCol>
              </a:tblGrid>
              <a:tr h="707743"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F172A"/>
                          </a:solidFill>
                          <a:effectLst/>
                          <a:latin typeface="Poppins"/>
                        </a:rPr>
                        <a:t>Collection</a:t>
                      </a: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F172A"/>
                          </a:solidFill>
                          <a:effectLst/>
                          <a:latin typeface="Poppins"/>
                        </a:rPr>
                        <a:t>Key Fields &amp; Data Types</a:t>
                      </a: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solidFill>
                            <a:srgbClr val="0F172A"/>
                          </a:solidFill>
                          <a:effectLst/>
                          <a:latin typeface="Poppins"/>
                        </a:rPr>
                        <a:t>Relationships &amp; Constraints</a:t>
                      </a: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524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26865"/>
                  </a:ext>
                </a:extLst>
              </a:tr>
              <a:tr h="963773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334155"/>
                          </a:solidFill>
                          <a:effectLst/>
                        </a:rPr>
                        <a:t>Users</a:t>
                      </a:r>
                      <a:endParaRPr lang="en-US" sz="1600" dirty="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Name, email</a:t>
                      </a:r>
                      <a:r>
                        <a:rPr lang="en-US" sz="1600" baseline="0" dirty="0">
                          <a:solidFill>
                            <a:srgbClr val="334155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Unique), password</a:t>
                      </a:r>
                      <a:r>
                        <a:rPr lang="en-US" sz="1600" baseline="0" dirty="0">
                          <a:solidFill>
                            <a:srgbClr val="334155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(Hashed), role</a:t>
                      </a:r>
                      <a:r>
                        <a:rPr lang="en-US" sz="1600" baseline="0" dirty="0">
                          <a:solidFill>
                            <a:srgbClr val="334155"/>
                          </a:solidFill>
                          <a:effectLst/>
                        </a:rPr>
                        <a:t> </a:t>
                      </a: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(Admin/Member/Viewer)</a:t>
                      </a: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34155"/>
                          </a:solidFill>
                          <a:effectLst/>
                        </a:rPr>
                        <a:t>Primary authentication entity. Linked to Workspaces.</a:t>
                      </a: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1524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379743"/>
                  </a:ext>
                </a:extLst>
              </a:tr>
              <a:tr h="1202036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334155"/>
                          </a:solidFill>
                          <a:effectLst/>
                        </a:rPr>
                        <a:t>Workspaces</a:t>
                      </a:r>
                      <a:endParaRPr lang="en-US" sz="160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Title, description, </a:t>
                      </a:r>
                      <a:r>
                        <a:rPr lang="en-US" sz="1600" dirty="0" err="1">
                          <a:solidFill>
                            <a:srgbClr val="334155"/>
                          </a:solidFill>
                          <a:effectLst/>
                        </a:rPr>
                        <a:t>ownerId</a:t>
                      </a: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 (Ref: User), members (Array of Ref: User)</a:t>
                      </a: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334155"/>
                          </a:solidFill>
                          <a:effectLst/>
                        </a:rPr>
                        <a:t>1-to-N relationship with Boards and User Roles.</a:t>
                      </a: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392715"/>
                  </a:ext>
                </a:extLst>
              </a:tr>
              <a:tr h="963773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334155"/>
                          </a:solidFill>
                          <a:effectLst/>
                        </a:rPr>
                        <a:t>Boards</a:t>
                      </a:r>
                      <a:endParaRPr lang="en-US" sz="160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Name, </a:t>
                      </a:r>
                      <a:r>
                        <a:rPr lang="en-US" sz="1600" dirty="0" err="1">
                          <a:solidFill>
                            <a:srgbClr val="334155"/>
                          </a:solidFill>
                          <a:effectLst/>
                        </a:rPr>
                        <a:t>workspaceId</a:t>
                      </a: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(Ref: Workspace), columns (Array of Strings)</a:t>
                      </a: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1-to-N relationship with Tasks; ordered column array.</a:t>
                      </a: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921610"/>
                  </a:ext>
                </a:extLst>
              </a:tr>
              <a:tr h="353675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334155"/>
                          </a:solidFill>
                          <a:effectLst/>
                        </a:rPr>
                        <a:t>Tasks</a:t>
                      </a:r>
                      <a:endParaRPr lang="en-US" sz="1600">
                        <a:solidFill>
                          <a:srgbClr val="334155"/>
                        </a:solidFill>
                        <a:effectLst/>
                      </a:endParaRP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Title, </a:t>
                      </a:r>
                      <a:r>
                        <a:rPr lang="en-US" sz="1600" dirty="0" err="1">
                          <a:solidFill>
                            <a:srgbClr val="334155"/>
                          </a:solidFill>
                          <a:effectLst/>
                        </a:rPr>
                        <a:t>boardId</a:t>
                      </a: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334155"/>
                          </a:solidFill>
                          <a:effectLst/>
                        </a:rPr>
                        <a:t>columnId</a:t>
                      </a: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, priority, assignees, attachments</a:t>
                      </a: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Referential index on `</a:t>
                      </a:r>
                      <a:r>
                        <a:rPr lang="en-US" sz="1600" dirty="0" err="1">
                          <a:solidFill>
                            <a:srgbClr val="334155"/>
                          </a:solidFill>
                          <a:effectLst/>
                        </a:rPr>
                        <a:t>boardId</a:t>
                      </a: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` and `</a:t>
                      </a:r>
                      <a:r>
                        <a:rPr lang="en-US" sz="1600" dirty="0" err="1">
                          <a:solidFill>
                            <a:srgbClr val="334155"/>
                          </a:solidFill>
                          <a:effectLst/>
                        </a:rPr>
                        <a:t>columnId</a:t>
                      </a:r>
                      <a:r>
                        <a:rPr lang="en-US" sz="1600" dirty="0">
                          <a:solidFill>
                            <a:srgbClr val="334155"/>
                          </a:solidFill>
                          <a:effectLst/>
                        </a:rPr>
                        <a:t>` for fast queries.</a:t>
                      </a:r>
                    </a:p>
                  </a:txBody>
                  <a:tcPr marL="119805" marR="119805" marT="93182" marB="93182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4245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237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  <a:endParaRPr lang="en-US" sz="32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FF7DFCF-E8D4-CED1-7DAA-EDBB47AA5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1374775"/>
            <a:ext cx="6934200" cy="502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77927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Diagrams (DFD)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4784"/>
            <a:ext cx="8229600" cy="4949816"/>
          </a:xfrm>
        </p:spPr>
        <p:txBody>
          <a:bodyPr/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DFD (Context Level):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interaction between users and the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CodeSphere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collaboration platform.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[ User / Admin ]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↓ HTTP REST API Requests / WebSocket Events ↑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[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CodeSphere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Engine ]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↓ CRUD Operations • Authentication • File Storage ↑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[ MongoDB Atlas &amp;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Cloudinary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]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DFD (Process Deconstruction):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Breaks down core backend processes into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subprocesses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P1.0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Subsystem: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Token issuing &amp; Verification.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P2.0 Workspace Controller: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Board &amp; Member Management.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P3.0 Task Pipeline: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CRUD &amp; Column State Updates.</a:t>
            </a:r>
          </a:p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P4.0 Socket Dispatcher: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Live Event Broadcasting.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005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0 DFD (Context Level)</a:t>
            </a:r>
            <a:endParaRPr lang="en-US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19CEADB-BE5B-4AEB-2580-34D663C34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000" y="1374775"/>
            <a:ext cx="7772400" cy="479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81706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152400"/>
            <a:ext cx="6324601" cy="609600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1 DFD (Process Deconstruction)</a:t>
            </a:r>
            <a:endParaRPr lang="en-US" sz="20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DF43BE8-C302-41F4-8A12-D592A99FD4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0" y="1374775"/>
            <a:ext cx="815340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13968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Implemented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006369"/>
            <a:ext cx="82296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hangingPunct="0">
              <a:spcBef>
                <a:spcPct val="0"/>
              </a:spcBef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hangingPunct="0">
              <a:spcBef>
                <a:spcPct val="0"/>
              </a:spcBef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Workspace &amp; Board Structure: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workspaces, invite members, assign roles, and manage team collaboration.</a:t>
            </a:r>
          </a:p>
          <a:p>
            <a:pPr marL="0" lvl="0" indent="0" eaLnBrk="0" hangingPunct="0">
              <a:spcBef>
                <a:spcPct val="0"/>
              </a:spcBef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hangingPunct="0">
              <a:spcBef>
                <a:spcPct val="0"/>
              </a:spcBef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&amp; Task Management: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projects, assign tasks, manage deadlines, labels, priorities, and progress tracking.</a:t>
            </a:r>
          </a:p>
          <a:p>
            <a:pPr marL="0" lvl="0" indent="0" eaLnBrk="0" hangingPunct="0">
              <a:spcBef>
                <a:spcPct val="0"/>
              </a:spcBef>
              <a:buFontTx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hangingPunct="0">
              <a:spcBef>
                <a:spcPct val="0"/>
              </a:spcBef>
              <a:buFontTx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Communication: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messaging, activity notifications, and live project updates using Socket.IO.</a:t>
            </a:r>
          </a:p>
          <a:p>
            <a:pPr marL="0" lvl="0" indent="0" eaLnBrk="0" hangingPunct="0">
              <a:spcBef>
                <a:spcPct val="0"/>
              </a:spcBef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Cloudinary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 for uploading and sharing project documents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hangingPunct="0"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Project </a:t>
            </a:r>
            <a:r>
              <a:rPr lang="en-US" alt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Assistant: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module that analyzes project data, task progress, and team activities to provide AI-based recommendations. It helps developers prioritize tasks, predict possible delays, and improve overall project management efficiency.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094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0" y="1295400"/>
            <a:ext cx="8382000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Synchronization: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simultaneous task updates and message delivery without data inconsistency.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Optimization: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Efficiently managing complex relationships between users, workspaces, projects, and tasks.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Security: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secure JWT middleware and role-based authorization.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Storage: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cloud uploads while maintaining high performance.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Scalability: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modular REST APIs capable of supporting future feature expansion.</a:t>
            </a:r>
          </a:p>
        </p:txBody>
      </p:sp>
    </p:spTree>
    <p:extLst>
      <p:ext uri="{BB962C8B-B14F-4D97-AF65-F5344CB8AC3E}">
        <p14:creationId xmlns:p14="http://schemas.microsoft.com/office/powerpoint/2010/main" val="2696633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Tasks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7200" y="769815"/>
            <a:ext cx="83820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Backend API Development: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REST API routes for authentication, user workspaces, and task CRUD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Database &amp; Schema Integration: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Set up MongoDB collections using Mongoose models for Users, Boards, and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WebSocket Integration: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Configure Socket.io on the backend to broadcast live card and column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Frontend UI Construction: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responsive React components with @hello-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pangea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smooth drag-and-drop board interactions.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File Upload Pipeline: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Cloudinary to handle task attachments and media uploads.</a:t>
            </a:r>
          </a:p>
        </p:txBody>
      </p:sp>
    </p:spTree>
    <p:extLst>
      <p:ext uri="{BB962C8B-B14F-4D97-AF65-F5344CB8AC3E}">
        <p14:creationId xmlns:p14="http://schemas.microsoft.com/office/powerpoint/2010/main" val="1648401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idx="1"/>
          </p:nvPr>
        </p:nvSpPr>
        <p:spPr bwMode="auto">
          <a:xfrm>
            <a:off x="457200" y="1591545"/>
            <a:ext cx="8001000" cy="4416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Collaboration Platform: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 a scalable platform combining project management, communication, and task tracking.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System Architecture: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JWT authentication, PostgreSQL database management, and secure cloud storage.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Collaboration: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instant communication and synchronized project updates using Socket.IO.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Enterprise Deployment: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modular architecture allows seamless expansion with AI services, DevOps integration, and cloud deployment.</a:t>
            </a:r>
          </a:p>
        </p:txBody>
      </p:sp>
    </p:spTree>
    <p:extLst>
      <p:ext uri="{BB962C8B-B14F-4D97-AF65-F5344CB8AC3E}">
        <p14:creationId xmlns:p14="http://schemas.microsoft.com/office/powerpoint/2010/main" val="345426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12B35-F619-A6C4-D183-0905E3C8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DD44-8165-80F9-FC40-5F12B7DB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172C5-9053-2A04-F2AC-F10C8CBF3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5919415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AE925D5-DA43-4DD1-B6B6-8B467D16728C}" vid="{3EE72552-1DD1-4F59-AD60-F0ECC5712F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</TotalTime>
  <Words>992</Words>
  <Application>Microsoft Office PowerPoint</Application>
  <PresentationFormat>On-screen Show (4:3)</PresentationFormat>
  <Paragraphs>133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Poppins</vt:lpstr>
      <vt:lpstr>Times New Roman</vt:lpstr>
      <vt:lpstr>Theme1</vt:lpstr>
      <vt:lpstr>PowerPoint Presentation</vt:lpstr>
      <vt:lpstr>Index</vt:lpstr>
      <vt:lpstr>Introduction</vt:lpstr>
      <vt:lpstr> Project Description </vt:lpstr>
      <vt:lpstr> System Architecture &amp; Design </vt:lpstr>
      <vt:lpstr>System Architecture &amp; Design</vt:lpstr>
      <vt:lpstr> Database Design </vt:lpstr>
      <vt:lpstr>Database Design</vt:lpstr>
      <vt:lpstr> Data Flow Diagrams (DFD) </vt:lpstr>
      <vt:lpstr>Level 0 DFD (Context Level)</vt:lpstr>
      <vt:lpstr>Level 1 DFD (Process Deconstruction)</vt:lpstr>
      <vt:lpstr> Features Implemented </vt:lpstr>
      <vt:lpstr> Challenges Faced </vt:lpstr>
      <vt:lpstr> Pending Tasks </vt:lpstr>
      <vt:lpstr> 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parth sharma</cp:lastModifiedBy>
  <cp:revision>172</cp:revision>
  <dcterms:created xsi:type="dcterms:W3CDTF">2024-07-10T18:26:37Z</dcterms:created>
  <dcterms:modified xsi:type="dcterms:W3CDTF">2026-07-29T05:40:54Z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2024-07-10T00:00:00Z</vt:filetime>
  </property>
</Properties>
</file>